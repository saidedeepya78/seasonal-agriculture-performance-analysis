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0"/>
  </p:notesMasterIdLst>
  <p:handoutMasterIdLst>
    <p:handoutMasterId r:id="rId21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0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5" d="100"/>
          <a:sy n="85" d="100"/>
        </p:scale>
        <p:origin x="494" y="6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07224" y="3765177"/>
            <a:ext cx="5617808" cy="1308847"/>
          </a:xfrm>
        </p:spPr>
        <p:txBody>
          <a:bodyPr/>
          <a:lstStyle/>
          <a:p>
            <a:r>
              <a:rPr lang="en-US" b="0" dirty="0">
                <a:solidFill>
                  <a:schemeClr val="tx1"/>
                </a:solidFill>
              </a:rPr>
              <a:t>Student Name: </a:t>
            </a:r>
            <a:r>
              <a:rPr lang="en-US" b="0" dirty="0" err="1">
                <a:solidFill>
                  <a:schemeClr val="tx1"/>
                </a:solidFill>
              </a:rPr>
              <a:t>Chillarige</a:t>
            </a:r>
            <a:r>
              <a:rPr lang="en-US" b="0" dirty="0">
                <a:solidFill>
                  <a:schemeClr val="tx1"/>
                </a:solidFill>
              </a:rPr>
              <a:t> Sai Dedeepya</a:t>
            </a:r>
          </a:p>
          <a:p>
            <a:r>
              <a:rPr lang="en-IN" b="0" dirty="0">
                <a:solidFill>
                  <a:schemeClr val="tx1"/>
                </a:solidFill>
              </a:rPr>
              <a:t>College Name: Stanley College of Engineering and Technology for Women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3"/>
            <a:ext cx="4998720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4007224" y="3256384"/>
            <a:ext cx="5495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IN" dirty="0"/>
              <a:t>STU6a6cb0045f0c31785507844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602" y="2102230"/>
            <a:ext cx="6431280" cy="3607987"/>
          </a:xfrm>
        </p:spPr>
        <p:txBody>
          <a:bodyPr wrap="square">
            <a:normAutofit/>
          </a:bodyPr>
          <a:lstStyle/>
          <a:p>
            <a:pPr algn="just"/>
            <a:r>
              <a:rPr dirty="0"/>
              <a:t>Agricultural performance is shaped by seasonal variations in environmental conditions, resource availability, and market factors.</a:t>
            </a:r>
            <a:endParaRPr lang="en-IN" dirty="0"/>
          </a:p>
          <a:p>
            <a:pPr algn="just"/>
            <a:r>
              <a:rPr dirty="0"/>
              <a:t>Raw agricultural data does not clearly reveal how performance changes across seasons.</a:t>
            </a:r>
          </a:p>
          <a:p>
            <a:pPr algn="just"/>
            <a:r>
              <a:rPr dirty="0"/>
              <a:t>This project investigates seasonal differences in yield, resource usage, and profitability using data analytics, to support evidence-based agricultural planning.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1143000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Description</a:t>
            </a:r>
            <a:br>
              <a:rPr lang="en-GB" dirty="0"/>
            </a:br>
            <a:r>
              <a:rPr lang="en-GB" sz="1600" dirty="0"/>
              <a:t>Analyzing seasonal patterns in a 4,000-record farm dataset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2103120"/>
            <a:ext cx="786384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000" dirty="0"/>
              <a:t>Dataset: 4,000 farm records across 3 seasons (Kharif, Rabi, Zaid), 8 states, 10 districts, and 8 crops.</a:t>
            </a:r>
          </a:p>
          <a:p>
            <a:pPr algn="just"/>
            <a:r>
              <a:rPr sz="2000" dirty="0"/>
              <a:t>Variables cover environment (rainfall, temperature, humidity), resources (</a:t>
            </a:r>
            <a:r>
              <a:rPr lang="en-US" sz="2000" dirty="0" err="1"/>
              <a:t>fertiliser</a:t>
            </a:r>
            <a:r>
              <a:rPr sz="2000" dirty="0"/>
              <a:t>, water, irrigation method), and economics (cost, revenue, profit).</a:t>
            </a:r>
            <a:endParaRPr lang="en-US" sz="2000" dirty="0"/>
          </a:p>
          <a:p>
            <a:pPr algn="just"/>
            <a:endParaRPr sz="2000" dirty="0"/>
          </a:p>
          <a:p>
            <a:pPr algn="just"/>
            <a:r>
              <a:rPr sz="2000" dirty="0"/>
              <a:t>Objective: clean and explore the data, compare performance across seasons, examine relationships between environmental/resource factors and yield, apply statistical testing, and derive evidence-based insights and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dirty="0"/>
              <a:t>Farmers - deciding which season and crop to prioritize</a:t>
            </a:r>
            <a:endParaRPr lang="en-IN" dirty="0"/>
          </a:p>
          <a:p>
            <a:pPr algn="just"/>
            <a:r>
              <a:rPr dirty="0"/>
              <a:t>Agricultural planners and policymakers - regional resource allocation</a:t>
            </a:r>
          </a:p>
          <a:p>
            <a:pPr algn="just"/>
            <a:r>
              <a:rPr dirty="0"/>
              <a:t>Agri-business analysts - profitability and market planning</a:t>
            </a:r>
          </a:p>
          <a:p>
            <a:pPr algn="just"/>
            <a:r>
              <a:rPr dirty="0"/>
              <a:t>Researchers - studying seasonal crop performance patterns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78000" y="1432560"/>
            <a:ext cx="7640320" cy="5243448"/>
          </a:xfrm>
        </p:spPr>
        <p:txBody>
          <a:bodyPr wrap="square">
            <a:normAutofit/>
          </a:bodyPr>
          <a:lstStyle/>
          <a:p>
            <a:pPr lvl="1" algn="just">
              <a:lnSpc>
                <a:spcPct val="150000"/>
              </a:lnSpc>
            </a:pPr>
            <a:r>
              <a:rPr dirty="0"/>
              <a:t>Python (Google </a:t>
            </a:r>
            <a:r>
              <a:rPr dirty="0" err="1"/>
              <a:t>Colab</a:t>
            </a:r>
            <a:r>
              <a:rPr dirty="0"/>
              <a:t>)</a:t>
            </a:r>
            <a:endParaRPr lang="en-IN" dirty="0"/>
          </a:p>
          <a:p>
            <a:pPr algn="just"/>
            <a:r>
              <a:rPr dirty="0"/>
              <a:t>pandas, </a:t>
            </a:r>
            <a:r>
              <a:rPr dirty="0" err="1"/>
              <a:t>numpy</a:t>
            </a:r>
            <a:r>
              <a:rPr dirty="0"/>
              <a:t> - data cleaning and manipulation</a:t>
            </a:r>
          </a:p>
          <a:p>
            <a:pPr algn="just"/>
            <a:r>
              <a:rPr dirty="0"/>
              <a:t>matplotlib, seaborn - visualization</a:t>
            </a:r>
          </a:p>
          <a:p>
            <a:pPr algn="just"/>
            <a:r>
              <a:rPr dirty="0" err="1"/>
              <a:t>scipy.stats</a:t>
            </a:r>
            <a:r>
              <a:rPr dirty="0"/>
              <a:t> - statistical hypothesis testing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8" y="370589"/>
            <a:ext cx="2891996" cy="1570860"/>
          </a:xfrm>
        </p:spPr>
        <p:txBody>
          <a:bodyPr>
            <a:noAutofit/>
          </a:bodyPr>
          <a:lstStyle/>
          <a:p>
            <a:r>
              <a:rPr lang="en-GB" sz="3200" dirty="0"/>
              <a:t>Results: Seasonal Performance</a:t>
            </a:r>
            <a:endParaRPr lang="en-IN" sz="32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2070846"/>
            <a:ext cx="3888494" cy="4096872"/>
          </a:xfrm>
        </p:spPr>
        <p:txBody>
          <a:bodyPr wrap="square">
            <a:noAutofit/>
          </a:bodyPr>
          <a:lstStyle/>
          <a:p>
            <a:pPr marL="0" indent="0" algn="just">
              <a:buNone/>
            </a:pPr>
            <a:r>
              <a:rPr lang="en-US" dirty="0"/>
              <a:t>Kharif season leads in both average yield (5.64 T/Ha) and average profit (Rs 178,914.65)</a:t>
            </a:r>
            <a:endParaRPr lang="en-IN" dirty="0"/>
          </a:p>
          <a:p>
            <a:pPr algn="just"/>
            <a:r>
              <a:rPr dirty="0"/>
              <a:t>Zaid season is </a:t>
            </a:r>
            <a:r>
              <a:rPr lang="en-US" dirty="0"/>
              <a:t>the </a:t>
            </a:r>
            <a:r>
              <a:rPr dirty="0"/>
              <a:t>weakest: lowest yield (4.67 T/Ha), highest water use, lowest water efficiency, and negative average profit (Rs -24,804.82)</a:t>
            </a:r>
          </a:p>
          <a:p>
            <a:pPr algn="just"/>
            <a:r>
              <a:rPr dirty="0"/>
              <a:t>Kruskal-Wallis test confirms the difference is statistically significant (p &lt; 0.05)</a:t>
            </a:r>
          </a:p>
        </p:txBody>
      </p:sp>
      <p:pic>
        <p:nvPicPr>
          <p:cNvPr id="31" name="Picture 30" descr="chart_seaso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2215" y="1737360"/>
            <a:ext cx="6949440" cy="284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8586" cy="955291"/>
          </a:xfrm>
        </p:spPr>
        <p:txBody>
          <a:bodyPr>
            <a:noAutofit/>
          </a:bodyPr>
          <a:lstStyle/>
          <a:p>
            <a:r>
              <a:rPr lang="en-GB" sz="3200" dirty="0"/>
              <a:t>Results: Crop Performance</a:t>
            </a:r>
            <a:endParaRPr lang="en-IN" sz="32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9B4A24F-1958-1EAC-4E97-0F4035F895C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199" y="1775012"/>
            <a:ext cx="4769225" cy="4161536"/>
          </a:xfrm>
        </p:spPr>
        <p:txBody>
          <a:bodyPr wrap="square">
            <a:noAutofit/>
          </a:bodyPr>
          <a:lstStyle/>
          <a:p>
            <a:pPr marL="0" indent="0" algn="just">
              <a:buNone/>
            </a:pPr>
            <a:r>
              <a:rPr lang="en-US" dirty="0"/>
              <a:t>Sugarcane dominates both yield (46.94 T/Ha) and profit (Rs 817,187.99), far ahead of every other crop</a:t>
            </a:r>
            <a:endParaRPr lang="en-IN" dirty="0"/>
          </a:p>
          <a:p>
            <a:pPr algn="just"/>
            <a:r>
              <a:rPr dirty="0"/>
              <a:t>Wheat, Rice and Maize show negative average profit despite decent yields, since their market prices are much lower than Sugarcane's or Chilli's</a:t>
            </a:r>
          </a:p>
          <a:p>
            <a:pPr algn="just"/>
            <a:r>
              <a:rPr dirty="0"/>
              <a:t>Yield alone does not guarantee profitability</a:t>
            </a:r>
          </a:p>
        </p:txBody>
      </p:sp>
      <p:pic>
        <p:nvPicPr>
          <p:cNvPr id="31" name="Picture 30" descr="chart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495" y="1188720"/>
            <a:ext cx="5852160" cy="416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8586" cy="1570860"/>
          </a:xfrm>
        </p:spPr>
        <p:txBody>
          <a:bodyPr>
            <a:noAutofit/>
          </a:bodyPr>
          <a:lstStyle/>
          <a:p>
            <a:r>
              <a:rPr lang="en-GB" sz="3200" dirty="0"/>
              <a:t>Results: Correlation &amp; Environment</a:t>
            </a:r>
            <a:endParaRPr lang="en-IN" sz="32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199" y="2015234"/>
            <a:ext cx="5078404" cy="4360166"/>
          </a:xfrm>
        </p:spPr>
        <p:txBody>
          <a:bodyPr wrap="square">
            <a:noAutofit/>
          </a:bodyPr>
          <a:lstStyle/>
          <a:p>
            <a:pPr marL="0" indent="0" algn="just">
              <a:buNone/>
            </a:pPr>
            <a:r>
              <a:rPr lang="en-US" dirty="0"/>
              <a:t>Individual environmental factors (Rainfall, Temperature, Humidity, Sunlight) show almost no correlation with Yield (all between -0.015 and 0.031)</a:t>
            </a:r>
            <a:endParaRPr lang="en-IN" dirty="0"/>
          </a:p>
          <a:p>
            <a:pPr algn="just"/>
            <a:r>
              <a:rPr dirty="0"/>
              <a:t>Water Efficiency correlates much more strongly with Yield (0.915) than raw Water Used (0.389)</a:t>
            </a:r>
          </a:p>
          <a:p>
            <a:pPr algn="just"/>
            <a:r>
              <a:rPr dirty="0"/>
              <a:t>Strongest correlation overall: Farm Area &amp; Total Cost (0.962) - larger farms cost more to run</a:t>
            </a:r>
          </a:p>
        </p:txBody>
      </p:sp>
      <p:pic>
        <p:nvPicPr>
          <p:cNvPr id="31" name="Picture 30" descr="chart_co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695" y="914400"/>
            <a:ext cx="5394960" cy="47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8" y="370589"/>
            <a:ext cx="2988586" cy="2005058"/>
          </a:xfrm>
        </p:spPr>
        <p:txBody>
          <a:bodyPr>
            <a:noAutofit/>
          </a:bodyPr>
          <a:lstStyle/>
          <a:p>
            <a:r>
              <a:rPr lang="en-GB" sz="3200" dirty="0"/>
              <a:t>Results: Resource Efficiency &amp; Geography</a:t>
            </a:r>
            <a:endParaRPr lang="en-IN" sz="32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199" y="2545976"/>
            <a:ext cx="4986963" cy="3343836"/>
          </a:xfrm>
        </p:spPr>
        <p:txBody>
          <a:bodyPr wrap="square">
            <a:noAutofit/>
          </a:bodyPr>
          <a:lstStyle/>
          <a:p>
            <a:pPr marL="0" indent="0" algn="just">
              <a:buNone/>
            </a:pPr>
            <a:r>
              <a:rPr lang="en-US" dirty="0"/>
              <a:t>Zaid season uses the most water (6,419.89 m3) but has the lowest water efficiency (4.41 T per 1000 m3)</a:t>
            </a:r>
            <a:endParaRPr lang="en-IN" dirty="0"/>
          </a:p>
          <a:p>
            <a:pPr algn="just"/>
            <a:r>
              <a:rPr dirty="0"/>
              <a:t>Punjab has the highest average yield (6.12 T/Ha) and profit among states; Andhra Pradesh has the lowest yield</a:t>
            </a:r>
          </a:p>
          <a:p>
            <a:pPr algn="just"/>
            <a:r>
              <a:rPr lang="en-US" dirty="0"/>
              <a:t> </a:t>
            </a:r>
            <a:r>
              <a:rPr lang="en-US" dirty="0" err="1"/>
              <a:t>Fertiliser</a:t>
            </a:r>
            <a:r>
              <a:rPr dirty="0"/>
              <a:t>, pesticide, and seed quality show almost no correlation with yield on their own</a:t>
            </a:r>
          </a:p>
        </p:txBody>
      </p:sp>
      <p:pic>
        <p:nvPicPr>
          <p:cNvPr id="31" name="Picture 30" descr="chart_wa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255" y="1371600"/>
            <a:ext cx="5486400" cy="375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sz="2000" dirty="0"/>
              <a:t>Kharif season outperforms Rabi and Zaid on nearly every metric (statistically confirmed, p &lt; 0.05)</a:t>
            </a:r>
            <a:endParaRPr lang="en-IN" sz="3600" dirty="0"/>
          </a:p>
          <a:p>
            <a:pPr algn="just"/>
            <a:r>
              <a:rPr sz="2000" dirty="0"/>
              <a:t>Sugarcane is an outlier crop, skewing overall yield and profit averages upward</a:t>
            </a:r>
          </a:p>
          <a:p>
            <a:pPr algn="just"/>
            <a:r>
              <a:rPr sz="2000" dirty="0"/>
              <a:t>Yield and profit don't always move together - Wheat, Rice and Maize show high yield but negative profit</a:t>
            </a:r>
          </a:p>
          <a:p>
            <a:pPr algn="just"/>
            <a:r>
              <a:rPr sz="2000" dirty="0"/>
              <a:t>Water efficiency matters more than water volume for predicting yield</a:t>
            </a:r>
          </a:p>
          <a:p>
            <a:pPr algn="just"/>
            <a:r>
              <a:rPr sz="2000" dirty="0"/>
              <a:t>Environmental factors (rainfall, temperature, humidity, sunlight) alone are weak predictors of yield in this dataset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Key Insights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sz="2000" dirty="0"/>
              <a:t>Prioritize Kharif-season cultivation where feasible</a:t>
            </a:r>
            <a:endParaRPr lang="en-IN" sz="3600" dirty="0"/>
          </a:p>
          <a:p>
            <a:pPr algn="just"/>
            <a:r>
              <a:rPr sz="2000" dirty="0"/>
              <a:t>Investigate Zaid season's low water efficiency and negative profit before scaling it up</a:t>
            </a:r>
          </a:p>
          <a:p>
            <a:pPr algn="just"/>
            <a:r>
              <a:rPr sz="2000" dirty="0"/>
              <a:t>Re-evaluate cost structure for Wheat, Rice and Maize despite their reasonable yields</a:t>
            </a:r>
          </a:p>
          <a:p>
            <a:pPr algn="just"/>
            <a:r>
              <a:rPr sz="2000" dirty="0"/>
              <a:t>Focus resource management on efficiency (output per unit input) rather than raw volume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Recommendations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 wrap="square">
            <a:normAutofit/>
          </a:bodyPr>
          <a:lstStyle/>
          <a:p>
            <a:pPr algn="just"/>
            <a:r>
              <a:rPr dirty="0"/>
              <a:t>Limitations: single-season snapshot (no multi-year trend), limited to 8 states, observational data (correlation is not causation), some missing values were median-imputed</a:t>
            </a:r>
            <a:endParaRPr lang="en-IN" dirty="0"/>
          </a:p>
          <a:p>
            <a:pPr algn="just"/>
            <a:r>
              <a:rPr dirty="0"/>
              <a:t>Conclusion: Kharif season and efficient water use emerge as the strongest patterns linked to better agricultural performance in this dataset</a:t>
            </a:r>
          </a:p>
          <a:p>
            <a:pPr algn="just"/>
            <a:r>
              <a:rPr dirty="0"/>
              <a:t>Findings are associative, not causal, and should guide - not replace - further ground-level agricultural investigation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Limitations &amp; Conclusion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2DCA8E-9512-796F-040C-87DD5686A562}"/>
              </a:ext>
            </a:extLst>
          </p:cNvPr>
          <p:cNvSpPr txBox="1"/>
          <p:nvPr/>
        </p:nvSpPr>
        <p:spPr>
          <a:xfrm>
            <a:off x="675957" y="1506071"/>
            <a:ext cx="5724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https://github.com/saidedeepya78/Seasonal-Agriculture-Performance-Analysis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9F4729-1BB4-BCFA-17E3-94FB531FF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72" y="1608410"/>
            <a:ext cx="6887916" cy="486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699"/>
            <a:ext cx="11340000" cy="5412441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601</TotalTime>
  <Words>730</Words>
  <Application>Microsoft Office PowerPoint</Application>
  <PresentationFormat>Widescreen</PresentationFormat>
  <Paragraphs>61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Trebuchet MS</vt:lpstr>
      <vt:lpstr>Wingdings</vt:lpstr>
      <vt:lpstr>Wingdings 3</vt:lpstr>
      <vt:lpstr>Facet</vt:lpstr>
      <vt:lpstr>Seasonal Agriculture Performance Analysis</vt:lpstr>
      <vt:lpstr>PROBLEM  STATEMENT</vt:lpstr>
      <vt:lpstr>Project Description Analyzing seasonal patterns in a 4,000-record farm dataset </vt:lpstr>
      <vt:lpstr>WHO ARE THE END USERS?</vt:lpstr>
      <vt:lpstr>Technology Used</vt:lpstr>
      <vt:lpstr>Results: Seasonal Performance</vt:lpstr>
      <vt:lpstr>Results: Crop Performance</vt:lpstr>
      <vt:lpstr>Results: Correlation &amp; Environment</vt:lpstr>
      <vt:lpstr>Results: Resource Efficiency &amp; Geography</vt:lpstr>
      <vt:lpstr>Key Insights</vt:lpstr>
      <vt:lpstr>Recommendations</vt:lpstr>
      <vt:lpstr>Limitations &amp; Conclusion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CRK Anand</cp:lastModifiedBy>
  <cp:revision>75</cp:revision>
  <dcterms:created xsi:type="dcterms:W3CDTF">2021-07-11T13:13:15Z</dcterms:created>
  <dcterms:modified xsi:type="dcterms:W3CDTF">2026-09-15T12:20:26Z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